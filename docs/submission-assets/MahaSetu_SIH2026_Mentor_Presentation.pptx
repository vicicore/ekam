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/>
          <a:p>
            <a:r>
              <a:rPr sz="3800" b="1">
                <a:solidFill>
                  <a:srgbClr val="162A4A"/>
                </a:solidFill>
                <a:latin typeface="Aptos Display"/>
              </a:rPr>
              <a:t>MAHASETU 2.0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162A4A"/>
                </a:solidFill>
                <a:latin typeface="Aptos"/>
              </a:rPr>
              <a:t>Problem Statement ID – PS 26129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D3748"/>
                </a:solidFill>
                <a:latin typeface="Aptos"/>
              </a:rPr>
              <a:t>Problem Statement Title – System integration and interoperability among government digital platforms, resulting in fragmented service delivery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D3748"/>
                </a:solidFill>
                <a:latin typeface="Aptos"/>
              </a:rPr>
              <a:t>Theme – Smart Automation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D3748"/>
                </a:solidFill>
                <a:latin typeface="Aptos"/>
              </a:rPr>
              <a:t>PS Category – Software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D3748"/>
                </a:solidFill>
                <a:latin typeface="Aptos"/>
              </a:rPr>
              <a:t>Team ID – [Enter Team ID]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D3748"/>
                </a:solidFill>
                <a:latin typeface="Aptos"/>
              </a:rPr>
              <a:t>Team Name – [Enter Registered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500" b="1">
                <a:solidFill>
                  <a:srgbClr val="162A4A"/>
                </a:solidFill>
                <a:latin typeface="Aptos Display"/>
              </a:rPr>
              <a:t>IDEA TITLE</a:t>
            </a:r>
          </a:p>
          <a:p>
            <a:r>
              <a:rPr sz="2500" b="1">
                <a:solidFill>
                  <a:srgbClr val="162A4A"/>
                </a:solidFill>
                <a:latin typeface="Aptos Display"/>
              </a:rPr>
              <a:t>MahaSetu 2.0 — One Citizen Profile, One Document Vault, One Application Journey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6609C"/>
                </a:solidFill>
                <a:latin typeface="Aptos"/>
              </a:rPr>
              <a:t>Proposed Solution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D3748"/>
                </a:solidFill>
                <a:latin typeface="Aptos"/>
              </a:rPr>
              <a:t>A unified citizen-service layer that connects existing Maharashtra government portals instead of replacing them.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D3748"/>
                </a:solidFill>
                <a:latin typeface="Aptos"/>
              </a:rPr>
              <a:t>• Smart service discovery: citizen describes the need → platform suggests applicable services.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D3748"/>
                </a:solidFill>
                <a:latin typeface="Aptos"/>
              </a:rPr>
              <a:t>• Reusable citizen profile + consent-based document vault → reduce repeated data/document entry.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D3748"/>
                </a:solidFill>
                <a:latin typeface="Aptos"/>
              </a:rPr>
              <a:t>• One Application ID + unified timeline → track requests across connected departments.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D3748"/>
                </a:solidFill>
                <a:latin typeface="Aptos"/>
              </a:rPr>
              <a:t>• SLA alerts, missing-document checks, multilingual guidance and accessibility-first UI.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D3748"/>
                </a:solidFill>
                <a:latin typeface="Aptos"/>
              </a:rPr>
              <a:t>• Consent-driven API Gateway + service adapters connect Aaple Sarkar, Mahabhulekh, MahaDBT, e-Panchayat and MAITRI where APIs are available.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28282"/>
                </a:solidFill>
                <a:latin typeface="Aptos"/>
              </a:rPr>
              <a:t>Key difference: the prototype is an interoperability layer, not just another portal.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 b="1"/>
              <a:t>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000" b="1">
                <a:solidFill>
                  <a:srgbClr val="162A4A"/>
                </a:solidFill>
                <a:latin typeface="Aptos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8092440" y="19659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/>
          <a:lstStyle/>
          <a:p>
            <a:pPr algn="ctr"/>
            <a:r>
              <a:rPr sz="1400" b="1">
                <a:solidFill>
                  <a:srgbClr val="C0392B"/>
                </a:solidFill>
                <a:latin typeface="Aptos Display"/>
              </a:rPr>
              <a:t>Current experience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Multiple portals / logins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Repeated documents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Department-wise tracking</a:t>
            </a:r>
          </a:p>
        </p:txBody>
      </p:sp>
      <p:sp>
        <p:nvSpPr>
          <p:cNvPr id="15364" name="Right Arrow 15363"/>
          <p:cNvSpPr/>
          <p:nvPr/>
        </p:nvSpPr>
        <p:spPr>
          <a:xfrm>
            <a:off x="9189720" y="3566160"/>
            <a:ext cx="1143000" cy="45720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8092440" y="41605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/>
          <a:lstStyle/>
          <a:p>
            <a:pPr algn="ctr"/>
            <a:r>
              <a:rPr sz="1400" b="1">
                <a:solidFill>
                  <a:srgbClr val="2E7D32"/>
                </a:solidFill>
                <a:latin typeface="Aptos Display"/>
              </a:rPr>
              <a:t>MahaSetu experience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One profile + consent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Reusable documents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Unified journey &amp;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62A4A"/>
                </a:solidFill>
                <a:latin typeface="Aptos Display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6609C"/>
                </a:solidFill>
                <a:latin typeface="Aptos"/>
              </a:rPr>
              <a:t>Technology Stack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Frontend: React / Flutter PWA • Backend: Node.js/Java Spring Boot • API Gateway: REST/JSON • Database: PostgreSQL • Cache: Redis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Security: OAuth 2.0 / OpenID Connect, consent logs, encryption, role-based access • Deployment: Docker + cloud/on-prem hybrid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 b="1"/>
              <a:t>3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000" b="1">
                <a:solidFill>
                  <a:srgbClr val="162A4A"/>
                </a:solidFill>
                <a:latin typeface="Aptos"/>
              </a:rPr>
              <a:t>[Team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40080" y="3703320"/>
            <a:ext cx="15087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A4A"/>
                </a:solidFill>
                <a:latin typeface="Aptos"/>
              </a:rPr>
              <a:t>Citizen Web / PWA</a:t>
            </a:r>
          </a:p>
          <a:p>
            <a:pPr algn="ctr"/>
            <a:r>
              <a:rPr sz="850">
                <a:solidFill>
                  <a:srgbClr val="2D3748"/>
                </a:solidFill>
                <a:latin typeface="Aptos"/>
              </a:rPr>
              <a:t>Multilingual UI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Accessibility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Offline-ready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514600" y="3703320"/>
            <a:ext cx="15087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A4A"/>
                </a:solidFill>
                <a:latin typeface="Aptos"/>
              </a:rPr>
              <a:t>Service Discovery</a:t>
            </a:r>
          </a:p>
          <a:p>
            <a:pPr algn="ctr"/>
            <a:r>
              <a:rPr sz="850">
                <a:solidFill>
                  <a:srgbClr val="2D3748"/>
                </a:solidFill>
                <a:latin typeface="Aptos"/>
              </a:rPr>
              <a:t>Rules + NLP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Eligibility hints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Required docs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89120" y="3703320"/>
            <a:ext cx="15087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A4A"/>
                </a:solidFill>
                <a:latin typeface="Aptos"/>
              </a:rPr>
              <a:t>Consent Layer</a:t>
            </a:r>
          </a:p>
          <a:p>
            <a:pPr algn="ctr"/>
            <a:r>
              <a:rPr sz="850">
                <a:solidFill>
                  <a:srgbClr val="2D3748"/>
                </a:solidFill>
                <a:latin typeface="Aptos"/>
              </a:rPr>
              <a:t>Purpose-based consent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Audit trail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Data minimisation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3703320"/>
            <a:ext cx="15087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A4A"/>
                </a:solidFill>
                <a:latin typeface="Aptos"/>
              </a:rPr>
              <a:t>API Gateway</a:t>
            </a:r>
          </a:p>
          <a:p>
            <a:pPr algn="ctr"/>
            <a:r>
              <a:rPr sz="850">
                <a:solidFill>
                  <a:srgbClr val="2D3748"/>
                </a:solidFill>
                <a:latin typeface="Aptos"/>
              </a:rPr>
              <a:t>Auth + routing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Rate limits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Standard APIs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38160" y="3703320"/>
            <a:ext cx="15087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A4A"/>
                </a:solidFill>
                <a:latin typeface="Aptos"/>
              </a:rPr>
              <a:t>Service Adapters</a:t>
            </a:r>
          </a:p>
          <a:p>
            <a:pPr algn="ctr"/>
            <a:r>
              <a:rPr sz="850">
                <a:solidFill>
                  <a:srgbClr val="2D3748"/>
                </a:solidFill>
                <a:latin typeface="Aptos"/>
              </a:rPr>
              <a:t>Aaple Sarkar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Mahabhulekh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MahaDBT / others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012680" y="3703320"/>
            <a:ext cx="15087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2A4A"/>
                </a:solidFill>
                <a:latin typeface="Aptos"/>
              </a:rPr>
              <a:t>Unified Journey</a:t>
            </a:r>
          </a:p>
          <a:p>
            <a:pPr algn="ctr"/>
            <a:r>
              <a:rPr sz="850">
                <a:solidFill>
                  <a:srgbClr val="2D3748"/>
                </a:solidFill>
                <a:latin typeface="Aptos"/>
              </a:rPr>
              <a:t>Application ID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SLA engine</a:t>
            </a:r>
            <a:br/>
            <a:r>
              <a:rPr sz="850">
                <a:solidFill>
                  <a:srgbClr val="2D3748"/>
                </a:solidFill>
                <a:latin typeface="Aptos"/>
              </a:rPr>
              <a:t>Notifications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2148839" y="4370832"/>
            <a:ext cx="365761" cy="0"/>
          </a:xfrm>
          <a:prstGeom prst="line">
            <a:avLst/>
          </a:prstGeom>
          <a:ln w="25400">
            <a:solidFill>
              <a:srgbClr val="266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4023360" y="4370832"/>
            <a:ext cx="365760" cy="0"/>
          </a:xfrm>
          <a:prstGeom prst="line">
            <a:avLst/>
          </a:prstGeom>
          <a:ln w="25400">
            <a:solidFill>
              <a:srgbClr val="266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5897879" y="4370832"/>
            <a:ext cx="365761" cy="0"/>
          </a:xfrm>
          <a:prstGeom prst="line">
            <a:avLst/>
          </a:prstGeom>
          <a:ln w="25400">
            <a:solidFill>
              <a:srgbClr val="266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7772400" y="4370832"/>
            <a:ext cx="365760" cy="0"/>
          </a:xfrm>
          <a:prstGeom prst="line">
            <a:avLst/>
          </a:prstGeom>
          <a:ln w="25400">
            <a:solidFill>
              <a:srgbClr val="266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9646920" y="4370832"/>
            <a:ext cx="365760" cy="0"/>
          </a:xfrm>
          <a:prstGeom prst="line">
            <a:avLst/>
          </a:prstGeom>
          <a:ln w="25400">
            <a:solidFill>
              <a:srgbClr val="266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A4A"/>
                </a:solidFill>
                <a:latin typeface="Aptos Display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6609C"/>
                </a:solidFill>
                <a:latin typeface="Aptos"/>
              </a:rPr>
              <a:t>Feasibility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• Build as an integration layer over existing portals; no need to migrate all departmental systems at once.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• Prototype can use mock APIs + sample datasets, then demonstrate one real integration where an authorised API is available.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• Start with 3–5 high-frequency citizen services and scale department-by-department.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E67E22"/>
                </a:solidFill>
                <a:latin typeface="Aptos"/>
              </a:rPr>
              <a:t>Potential Challenges &amp; Mitigation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• Legacy / unavailable APIs → adapter layer + API contract standardisation.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• Privacy &amp; consent → purpose limitation, explicit consent, encryption and audit logs.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• Different department workflows → common status model + configurable workflow adapters.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• Low connectivity / digital literacy → PWA offline queue, Marathi/English UI, guided forms and assisted-service mode.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 b="1"/>
              <a:t>4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000" b="1">
                <a:solidFill>
                  <a:srgbClr val="162A4A"/>
                </a:solidFill>
                <a:latin typeface="Aptos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62A4A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26609C"/>
                </a:solidFill>
                <a:latin typeface="Aptos"/>
              </a:rPr>
              <a:t>Target Audience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D3748"/>
                </a:solidFill>
                <a:latin typeface="Aptos"/>
              </a:rPr>
              <a:t>Citizens • Students • Senior citizens • Farmers • Businesses • Service-centre operators • Government departments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62A4A"/>
                </a:solidFill>
                <a:latin typeface="Aptos"/>
              </a:rPr>
              <a:t>Expected prototype outcome: demonstrate one citizen journey end-to-end across connected/mock departmental services.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 b="1"/>
              <a:t>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000" b="1">
                <a:solidFill>
                  <a:srgbClr val="162A4A"/>
                </a:solidFill>
                <a:latin typeface="Aptos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40080" y="365760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/>
          <a:lstStyle/>
          <a:p>
            <a:pPr algn="ctr"/>
            <a:r>
              <a:rPr sz="1400" b="1">
                <a:solidFill>
                  <a:srgbClr val="26609C"/>
                </a:solidFill>
                <a:latin typeface="Aptos Display"/>
              </a:rPr>
              <a:t>For Citizens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Less repeated data entry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Clear requirements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Single tracking journey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429000" y="365760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/>
          <a:lstStyle/>
          <a:p>
            <a:pPr algn="ctr"/>
            <a:r>
              <a:rPr sz="1400" b="1">
                <a:solidFill>
                  <a:srgbClr val="228282"/>
                </a:solidFill>
                <a:latin typeface="Aptos Display"/>
              </a:rPr>
              <a:t>For Departments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Standard API contracts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Better visibility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Reusable verified data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365760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/>
          <a:lstStyle/>
          <a:p>
            <a:pPr algn="ctr"/>
            <a:r>
              <a:rPr sz="1400" b="1">
                <a:solidFill>
                  <a:srgbClr val="2E7D32"/>
                </a:solidFill>
                <a:latin typeface="Aptos Display"/>
              </a:rPr>
              <a:t>For Governance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Consent + audit trail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SLA monitoring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Interoperable ecosystem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006840" y="3657600"/>
            <a:ext cx="2560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/>
          <a:lstStyle/>
          <a:p>
            <a:pPr algn="ctr"/>
            <a:r>
              <a:rPr sz="1400" b="1">
                <a:solidFill>
                  <a:srgbClr val="E67E22"/>
                </a:solidFill>
                <a:latin typeface="Aptos Display"/>
              </a:rPr>
              <a:t>Scalability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Add portals via adapters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Common identity/profile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2D3748"/>
                </a:solidFill>
                <a:latin typeface="Aptos"/>
              </a:rPr>
              <a:t>• API-first expansion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A4A"/>
                </a:solidFill>
                <a:latin typeface="Aptos Display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6609C"/>
                </a:solidFill>
                <a:latin typeface="Aptos"/>
              </a:rPr>
              <a:t>Primary reference — Aaple Sarkar Service Portal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D3748"/>
                </a:solidFill>
                <a:latin typeface="Aptos"/>
              </a:rPr>
              <a:t>Official portal: https://aaplesarkar.mahaonline.gov.in/en/forms/home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D3748"/>
                </a:solidFill>
                <a:latin typeface="Aptos"/>
              </a:rPr>
              <a:t>Observed on the current service page: department-wise service catalogue, application tracking by Application ID, certificate verification, appeal path, and a visible processing error on the page during review.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6609C"/>
                </a:solidFill>
                <a:latin typeface="Aptos"/>
              </a:rPr>
              <a:t>SIH 2026 Problem Statement — PS 26129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D3748"/>
                </a:solidFill>
                <a:latin typeface="Aptos"/>
              </a:rPr>
              <a:t>System integration and interoperability among government digital platforms, resulting in fragmented service delivery.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D3748"/>
                </a:solidFill>
                <a:latin typeface="Aptos"/>
              </a:rPr>
              <a:t>Proposed direction: unified interoperability framework + consent-driven API Gateway, aligned with IndEA 2.0 / Open Data Exchange concepts.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D3748"/>
                </a:solidFill>
                <a:latin typeface="Aptos"/>
              </a:rPr>
              <a:t>SIH submission constraints from provided template: maximum 6 slides including title; keep content concise; use diagrams/infographics; submit final PDF.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6609C"/>
                </a:solidFill>
                <a:latin typeface="Aptos"/>
              </a:rPr>
              <a:t>Source links: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Aptos"/>
              </a:rPr>
              <a:t>https://aaplesarkar.mahaonline.gov.in/en/CommonForm/ViewAllServices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Aptos"/>
              </a:rPr>
              <a:t>https://aaplesarkar.mahaonline.gov.in/en/CommonForm/CitizenServices_RTS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200" b="1"/>
              <a:t>6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000" b="1">
                <a:solidFill>
                  <a:srgbClr val="162A4A"/>
                </a:solidFill>
                <a:latin typeface="Aptos"/>
              </a:rPr>
              <a:t>[Team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